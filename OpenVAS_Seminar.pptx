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90" r:id="rId19"/>
    <p:sldId id="279" r:id="rId20"/>
    <p:sldId id="278" r:id="rId21"/>
    <p:sldId id="274" r:id="rId22"/>
    <p:sldId id="272" r:id="rId23"/>
    <p:sldId id="275" r:id="rId24"/>
    <p:sldId id="276" r:id="rId25"/>
    <p:sldId id="277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70" r:id="rId37"/>
    <p:sldId id="271" r:id="rId3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hub.com/EzhilPrasaath/OpenVAS_Demonstration" TargetMode="Externa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3152" cy="1554480"/>
          </a:xfrm>
          <a:prstGeom prst="rect">
            <a:avLst/>
          </a:prstGeom>
          <a:solidFill>
            <a:srgbClr val="99CE00"/>
          </a:solidFill>
          <a:ln w="12700">
            <a:solidFill>
              <a:srgbClr val="99CE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280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48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99C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Vulnerability Assessment &amp; Scanning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1E0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Ezhil </a:t>
            </a:r>
            <a:r>
              <a:rPr lang="en-IN" altLang="en-US" sz="2000" dirty="0">
                <a:solidFill>
                  <a:srgbClr val="D1E0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Prasaath Se</a:t>
            </a:r>
            <a:r>
              <a:rPr lang="en-US" sz="2000" dirty="0">
                <a:solidFill>
                  <a:srgbClr val="D1E0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</a:t>
            </a:r>
            <a:r>
              <a:rPr lang="en-IN" altLang="en-US" sz="2000" dirty="0">
                <a:solidFill>
                  <a:srgbClr val="D1E0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CB.SC.P2CYS26026</a:t>
            </a:r>
            <a:endParaRPr lang="en-IN" altLang="en-US" sz="2000" dirty="0">
              <a:solidFill>
                <a:srgbClr val="D1E0C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1E0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 Network Security</a:t>
            </a:r>
            <a:endParaRPr lang="en-US" sz="2000" dirty="0">
              <a:solidFill>
                <a:srgbClr val="D1E0C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Vulnerability Scanning?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1732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Vulnerability = a weakness an attacker can exploit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2880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6E8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patch  ·  Misconfiguration  ·  Default credentials  ·  Exposed service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874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60320"/>
            <a:ext cx="64008" cy="16459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9748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first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10896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attackers 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560320"/>
            <a:ext cx="1874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560320"/>
            <a:ext cx="64008" cy="1645920"/>
          </a:xfrm>
          <a:prstGeom prst="rect">
            <a:avLst/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34640" y="269748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10896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by CVSS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1874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56032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69748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10896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PCI-DSS · ISO 27001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0840" y="2560320"/>
            <a:ext cx="1874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256032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269748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10896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attack surface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OpenVAS?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Vulnerability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 Scanner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37490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vulnerability scanner that discovers, rates and reports weaknesses across hosts and services.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69164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source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9456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GPL licence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137160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169164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Greenbone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19456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324612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100,000+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74904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Vulnerability tests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292608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324612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Nessus fork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74904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Since 2005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 vs GVM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2588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GVM  -  Greenbone Vulnerability Management (full framework)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385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openvas-scanner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86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engine · runs VTs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8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9385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gvmd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286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Manager · GMP · tasks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8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9385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ospd-openvas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286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OSP bridge to scanner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28346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8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94436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gsad / GSA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UI · HTTPS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8346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8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94436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gvm-tools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 · GMP scripting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8346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8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294436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+ Feeds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· VTs · SCAP · CERT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 = scanner engine   |   GVM = platform around 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OpenVAS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74520" cy="54864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 Target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05740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· CIDR · hostname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1645920"/>
            <a:ext cx="18288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06040" y="1371600"/>
            <a:ext cx="1874520" cy="54864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137160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 Discovery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06040" y="192024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205740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Ping / ARP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scan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+ OS fingerprint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1645920"/>
            <a:ext cx="18288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1371600"/>
            <a:ext cx="1874520" cy="54864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37160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 VT Execution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92024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05740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NASL scripts run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open service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1645920"/>
            <a:ext cx="18288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1371600"/>
            <a:ext cx="1874520" cy="54864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137160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 Results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20840" y="192024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205740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 · QoD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CVE · solution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AF5D3"/>
          </a:solidFill>
          <a:ln w="12700">
            <a:solidFill>
              <a:srgbClr val="EAF5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Knowledge Base shares per-host findings across VTs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754880" cy="530352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188720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GSA / gsad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18872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interface  ·  HTTPS 9392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719072"/>
            <a:ext cx="0" cy="164592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1883664"/>
            <a:ext cx="4754880" cy="530352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883664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gvmd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883664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Manager  ·  GMP protocol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2414016"/>
            <a:ext cx="0" cy="164592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2578608"/>
            <a:ext cx="4754880" cy="530352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57860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ospd-openvas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2578608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OSP daemon  ·  scanner bridge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3108960"/>
            <a:ext cx="0" cy="164592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3273552"/>
            <a:ext cx="4754880" cy="530352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273552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openvas-scanner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273552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VTs (NASL)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3803904"/>
            <a:ext cx="0" cy="164592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968496"/>
            <a:ext cx="475488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968496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hosts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3968496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under assessment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118872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1188720"/>
            <a:ext cx="64008" cy="960120"/>
          </a:xfrm>
          <a:prstGeom prst="rect">
            <a:avLst/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89320" y="1325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1737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gvmd data: tasks, results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233172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331720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2468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2880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Scanner knowledge base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47472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347472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89320" y="3611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989320" y="4023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NVT · SCAP · CERT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Vulnerability Assessment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691640" cy="868680"/>
          </a:xfrm>
          <a:prstGeom prst="chevron">
            <a:avLst/>
          </a:prstGeom>
          <a:solidFill>
            <a:srgbClr val="1230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13258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 · ports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76272" y="1463040"/>
            <a:ext cx="1691640" cy="868680"/>
          </a:xfrm>
          <a:prstGeom prst="chevron">
            <a:avLst/>
          </a:prstGeom>
          <a:solidFill>
            <a:srgbClr val="1230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1463040"/>
            <a:ext cx="13258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21992" y="260604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config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Scanner · schedule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03904" y="1463040"/>
            <a:ext cx="1691640" cy="868680"/>
          </a:xfrm>
          <a:prstGeom prst="chevron">
            <a:avLst/>
          </a:prstGeom>
          <a:solidFill>
            <a:srgbClr val="1230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86784" y="1463040"/>
            <a:ext cx="13258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9624" y="260604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scan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progress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31536" y="1463040"/>
            <a:ext cx="1691640" cy="868680"/>
          </a:xfrm>
          <a:prstGeom prst="chevron">
            <a:avLst/>
          </a:prstGeom>
          <a:solidFill>
            <a:srgbClr val="1230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14416" y="1463040"/>
            <a:ext cx="13258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77256" y="260604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by QoD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Triage CVSS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59168" y="1463040"/>
            <a:ext cx="1691640" cy="868680"/>
          </a:xfrm>
          <a:prstGeom prst="chevron">
            <a:avLst/>
          </a:prstGeom>
          <a:solidFill>
            <a:srgbClr val="5B9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42048" y="1463040"/>
            <a:ext cx="13258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Remediate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Rescan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04888" y="260604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· harden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fix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EAF5D3"/>
          </a:solidFill>
          <a:ln w="12700">
            <a:solidFill>
              <a:srgbClr val="EAF5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Repeat: every fix is verified by a rescan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of Scans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846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64008" cy="4572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188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1887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Hosts, ports, services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4846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55648"/>
            <a:ext cx="64008" cy="4572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175564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Discovery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175564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Liveness check only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4846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22576"/>
            <a:ext cx="64008" cy="4572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32257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Discovery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322576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 + hardware fingerprint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89504"/>
            <a:ext cx="4846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889504"/>
            <a:ext cx="64008" cy="4572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88950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288950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dangerous checks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4846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56432"/>
            <a:ext cx="64008" cy="45720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45643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and fast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514600" y="345643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· uses discovery results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4846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23360"/>
            <a:ext cx="64008" cy="4572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0233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and deep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514600" y="4023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VTs · slowest · thorough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1188720"/>
            <a:ext cx="2926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1188720"/>
            <a:ext cx="64008" cy="1554480"/>
          </a:xfrm>
          <a:prstGeom prst="rect">
            <a:avLst/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97880" y="13258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Unauthenticated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897880" y="173736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Remote, attacker 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Banners · open ports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0" y="2926080"/>
            <a:ext cx="2926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2926080"/>
            <a:ext cx="64008" cy="16459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97880" y="3063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Authenticated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897880" y="34747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SSH · SMB · SNMP creds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patch checks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false positives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Vulnerability Tests (VTs)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 sync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1554480"/>
            <a:ext cx="18288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128016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28016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NVT  (.nasl)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18288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28016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28016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on target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1554480"/>
            <a:ext cx="18288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128016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28016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19456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194560"/>
            <a:ext cx="64008" cy="228600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331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Anatomy of a VT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2743200"/>
            <a:ext cx="21945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OID · Family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CVE refs · CVSS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QoD · Solution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19456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194560"/>
            <a:ext cx="64008" cy="2286000"/>
          </a:xfrm>
          <a:prstGeom prst="rect">
            <a:avLst/>
          </a:prstGeom>
          <a:solidFill>
            <a:srgbClr val="2F7D6B"/>
          </a:solidFill>
          <a:ln w="12700">
            <a:solidFill>
              <a:srgbClr val="2F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2331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2743200"/>
            <a:ext cx="21945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/ banner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probe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credentialed check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19456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194560"/>
            <a:ext cx="64008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2331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 matters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743200"/>
            <a:ext cx="21945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vs Enterprise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Stale feed = blind scanner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 before every scan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&amp; Severity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74520" cy="10972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874520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41732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18288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0.1 - 3.9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1732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8288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4.0 - 6.9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8745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41732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8288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7.0 - 10.0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CVSS-based severity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finding carries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3375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09928" y="33375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09928" y="33375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/ Proto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71216" y="33375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71216" y="33375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NVT OID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32504" y="33375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32504" y="33375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93792" y="33375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3792" y="33375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33375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33375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QoD 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16368" y="33375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16368" y="33375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Export: PDF  ·  XML  ·  CSV  ·  TXT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vsftpd 2.3.4 Backdoor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468880" cy="329184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9.8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C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CVE-2011-2523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E0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21/tcp  ·  QoD ~99%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344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23444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Backdoored source tarball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911096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911096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1911096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Username ending in ":)"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2587752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258775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58775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bind shell on port 6200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3264408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264408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264408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VT sends trigger, probes 6200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3941064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941064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941064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Upgrade · verify checksums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48640" y="123444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548640" y="1234440"/>
            <a:ext cx="3931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>
            <p:custDataLst>
              <p:tags r:id="rId3"/>
            </p:custDataLst>
          </p:nvPr>
        </p:nvSpPr>
        <p:spPr>
          <a:xfrm>
            <a:off x="822960" y="1463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9" name="Text 7"/>
          <p:cNvSpPr txBox="1"/>
          <p:nvPr>
            <p:custDataLst>
              <p:tags r:id="rId4"/>
            </p:custDataLst>
          </p:nvPr>
        </p:nvSpPr>
        <p:spPr>
          <a:xfrm>
            <a:off x="649605" y="1900555"/>
            <a:ext cx="338328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&amp; open source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100k+ VTs, feed-driven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Authenticated scanning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Scheduling + GMP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Reports: PDF / XML / CSV</a:t>
            </a:r>
            <a:endParaRPr lang="en-US" sz="13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4663440" y="123444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663440" y="1234440"/>
            <a:ext cx="39319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 txBox="1"/>
          <p:nvPr>
            <p:custDataLst>
              <p:tags r:id="rId7"/>
            </p:custDataLst>
          </p:nvPr>
        </p:nvSpPr>
        <p:spPr>
          <a:xfrm>
            <a:off x="4937760" y="1463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3" name="Text 11"/>
          <p:cNvSpPr txBox="1"/>
          <p:nvPr>
            <p:custDataLst>
              <p:tags r:id="rId8"/>
            </p:custDataLst>
          </p:nvPr>
        </p:nvSpPr>
        <p:spPr>
          <a:xfrm>
            <a:off x="4937760" y="1965960"/>
            <a:ext cx="338328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positives / negatives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Heavy, slow full scans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disrupt fragile hosts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exploit proof: validate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on deep web-app flaws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Point-in-time snapshot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 in a Security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371600" cy="73152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Nmap · Amass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828800"/>
            <a:ext cx="27432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1463040"/>
            <a:ext cx="1371600" cy="7315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146304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331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828800"/>
            <a:ext cx="27432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40480" y="1463040"/>
            <a:ext cx="1371600" cy="73152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46304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331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Metasploit · manual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1828800"/>
            <a:ext cx="27432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0" y="1463040"/>
            <a:ext cx="1371600" cy="73152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146304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Remediate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331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· harden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828800"/>
            <a:ext cx="274320" cy="0"/>
          </a:xfrm>
          <a:prstGeom prst="line">
            <a:avLst/>
          </a:prstGeom>
          <a:noFill/>
          <a:ln w="25400">
            <a:solidFill>
              <a:srgbClr val="5B9A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0" y="1463040"/>
            <a:ext cx="1371600" cy="7315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146304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Rescan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331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AF5D3"/>
          </a:solidFill>
          <a:ln w="12700">
            <a:solidFill>
              <a:srgbClr val="EAF5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loop: scan, fix, verify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99CE00"/>
          </a:solidFill>
          <a:ln w="12700">
            <a:solidFill>
              <a:srgbClr val="99CE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737360"/>
            <a:ext cx="594360" cy="594360"/>
          </a:xfrm>
          <a:prstGeom prst="ellipse">
            <a:avLst/>
          </a:prstGeom>
          <a:solidFill>
            <a:srgbClr val="99CE00"/>
          </a:solidFill>
          <a:ln w="12700">
            <a:solidFill>
              <a:srgbClr val="99CE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20240" y="2029968"/>
            <a:ext cx="685800" cy="0"/>
          </a:xfrm>
          <a:prstGeom prst="line">
            <a:avLst/>
          </a:prstGeom>
          <a:noFill/>
          <a:ln w="25400">
            <a:solidFill>
              <a:srgbClr val="99CE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1737360"/>
            <a:ext cx="594360" cy="594360"/>
          </a:xfrm>
          <a:prstGeom prst="ellipse">
            <a:avLst/>
          </a:prstGeom>
          <a:solidFill>
            <a:srgbClr val="99CE00"/>
          </a:solidFill>
          <a:ln w="12700">
            <a:solidFill>
              <a:srgbClr val="99CE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5146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77640" y="2029968"/>
            <a:ext cx="685800" cy="0"/>
          </a:xfrm>
          <a:prstGeom prst="line">
            <a:avLst/>
          </a:prstGeom>
          <a:noFill/>
          <a:ln w="25400">
            <a:solidFill>
              <a:srgbClr val="99CE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0" y="1737360"/>
            <a:ext cx="594360" cy="594360"/>
          </a:xfrm>
          <a:prstGeom prst="ellipse">
            <a:avLst/>
          </a:prstGeom>
          <a:solidFill>
            <a:srgbClr val="99CE00"/>
          </a:solidFill>
          <a:ln w="12700">
            <a:solidFill>
              <a:srgbClr val="99CE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5146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35040" y="2029968"/>
            <a:ext cx="685800" cy="0"/>
          </a:xfrm>
          <a:prstGeom prst="line">
            <a:avLst/>
          </a:prstGeom>
          <a:noFill/>
          <a:ln w="25400">
            <a:solidFill>
              <a:srgbClr val="99CE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1737360"/>
            <a:ext cx="594360" cy="594360"/>
          </a:xfrm>
          <a:prstGeom prst="ellipse">
            <a:avLst/>
          </a:prstGeom>
          <a:solidFill>
            <a:srgbClr val="99CE00"/>
          </a:solidFill>
          <a:ln w="12700">
            <a:solidFill>
              <a:srgbClr val="99CE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5146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6E8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Authorised target only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91440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20" y="73660"/>
            <a:ext cx="8781415" cy="40906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95655" y="4260850"/>
            <a:ext cx="79451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/>
              <a:t>Github Link : </a:t>
            </a:r>
            <a:r>
              <a:rPr lang="en-US">
                <a:hlinkClick r:id="rId2" tooltip="" action="ppaction://hlinkfile"/>
              </a:rPr>
              <a:t>https://github.com/EzhilPrasaath/OpenVAS_Demonstration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034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03995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91440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91440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91440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91440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22960" cy="45720"/>
          </a:xfrm>
          <a:prstGeom prst="rect">
            <a:avLst/>
          </a:prstGeom>
          <a:solidFill>
            <a:srgbClr val="5B9A00"/>
          </a:solidFill>
          <a:ln w="12700">
            <a:solidFill>
              <a:srgbClr val="5B9A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280160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280160"/>
            <a:ext cx="256032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OpenVAS scans; GVM manages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280160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280160"/>
            <a:ext cx="256032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 freshness = detection quality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926080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926080"/>
            <a:ext cx="256032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CVSS + QoD drive triage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2926080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9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926080"/>
            <a:ext cx="256032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Scan, validate, fix, rescan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160520" y="2743200"/>
            <a:ext cx="822960" cy="45720"/>
          </a:xfrm>
          <a:prstGeom prst="rect">
            <a:avLst/>
          </a:prstGeom>
          <a:solidFill>
            <a:srgbClr val="99CE00"/>
          </a:solidFill>
          <a:ln w="12700">
            <a:solidFill>
              <a:srgbClr val="99CE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9C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2,&quot;left&quot;:43.2,&quot;top&quot;:97.2,&quot;width&quot;:633.6}"/>
</p:tagLst>
</file>

<file path=ppt/tags/tag2.xml><?xml version="1.0" encoding="utf-8"?>
<p:tagLst xmlns:p="http://schemas.openxmlformats.org/presentationml/2006/main">
  <p:tag name="KSO_WM_DIAGRAM_VIRTUALLY_FRAME" val="{&quot;height&quot;:259.2,&quot;left&quot;:43.2,&quot;top&quot;:97.2,&quot;width&quot;:633.6}"/>
</p:tagLst>
</file>

<file path=ppt/tags/tag3.xml><?xml version="1.0" encoding="utf-8"?>
<p:tagLst xmlns:p="http://schemas.openxmlformats.org/presentationml/2006/main">
  <p:tag name="KSO_WM_DIAGRAM_VIRTUALLY_FRAME" val="{&quot;height&quot;:259.2,&quot;left&quot;:43.2,&quot;top&quot;:97.2,&quot;width&quot;:633.6}"/>
</p:tagLst>
</file>

<file path=ppt/tags/tag4.xml><?xml version="1.0" encoding="utf-8"?>
<p:tagLst xmlns:p="http://schemas.openxmlformats.org/presentationml/2006/main">
  <p:tag name="KSO_WM_DIAGRAM_VIRTUALLY_FRAME" val="{&quot;height&quot;:259.2,&quot;left&quot;:43.2,&quot;top&quot;:97.2,&quot;width&quot;:633.6}"/>
</p:tagLst>
</file>

<file path=ppt/tags/tag5.xml><?xml version="1.0" encoding="utf-8"?>
<p:tagLst xmlns:p="http://schemas.openxmlformats.org/presentationml/2006/main">
  <p:tag name="KSO_WM_DIAGRAM_VIRTUALLY_FRAME" val="{&quot;height&quot;:259.2,&quot;left&quot;:43.2,&quot;top&quot;:97.2,&quot;width&quot;:633.6}"/>
</p:tagLst>
</file>

<file path=ppt/tags/tag6.xml><?xml version="1.0" encoding="utf-8"?>
<p:tagLst xmlns:p="http://schemas.openxmlformats.org/presentationml/2006/main">
  <p:tag name="KSO_WM_DIAGRAM_VIRTUALLY_FRAME" val="{&quot;height&quot;:259.2,&quot;left&quot;:43.2,&quot;top&quot;:97.2,&quot;width&quot;:633.6}"/>
</p:tagLst>
</file>

<file path=ppt/tags/tag7.xml><?xml version="1.0" encoding="utf-8"?>
<p:tagLst xmlns:p="http://schemas.openxmlformats.org/presentationml/2006/main">
  <p:tag name="KSO_WM_DIAGRAM_VIRTUALLY_FRAME" val="{&quot;height&quot;:259.2,&quot;left&quot;:43.2,&quot;top&quot;:97.2,&quot;width&quot;:633.6}"/>
</p:tagLst>
</file>

<file path=ppt/tags/tag8.xml><?xml version="1.0" encoding="utf-8"?>
<p:tagLst xmlns:p="http://schemas.openxmlformats.org/presentationml/2006/main">
  <p:tag name="KSO_WM_DIAGRAM_VIRTUALLY_FRAME" val="{&quot;height&quot;:259.2,&quot;left&quot;:43.2,&quot;top&quot;:97.2,&quot;width&quot;:63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3530</Words>
  <Application>WPS Presentation</Application>
  <PresentationFormat>On-screen Show (16:9)</PresentationFormat>
  <Paragraphs>423</Paragraphs>
  <Slides>35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Microsoft YaHei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OpenVAS - Vulnerability Assessment &amp; Scanning</dc:title>
  <dc:creator>PptxGenJS</dc:creator>
  <dc:subject>PptxGenJS Presentation</dc:subject>
  <cp:lastModifiedBy>artin</cp:lastModifiedBy>
  <cp:revision>21</cp:revision>
  <dcterms:created xsi:type="dcterms:W3CDTF">2026-10-11T13:21:08Z</dcterms:created>
  <dcterms:modified xsi:type="dcterms:W3CDTF">2026-10-11T13:21:08Z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59971C503F1B4FB09502483F2152E0C1_12</vt:lpwstr>
  </property>
  <property fmtid="{D5CDD505-2E9C-101B-9397-08002B2CF9AE}" pid="3" name="KSOProductBuildVer">
    <vt:lpwstr>1033-11.1.0.11733</vt:lpwstr>
  </property>
</Properties>
</file>